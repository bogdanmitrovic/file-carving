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173990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254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254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07107"/>
              <a:lumOff val="1142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chemeClr val="accent4">
                  <a:hueOff val="-607107"/>
                  <a:lumOff val="114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254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254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254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254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F5F5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esentation Title"/>
          <p:cNvSpPr txBox="1"/>
          <p:nvPr>
            <p:ph type="title" hasCustomPrompt="1"/>
          </p:nvPr>
        </p:nvSpPr>
        <p:spPr>
          <a:xfrm>
            <a:off x="762000" y="2108200"/>
            <a:ext cx="11480800" cy="3302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pc="-246" sz="82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762000" y="5248275"/>
            <a:ext cx="11480800" cy="2016059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Author and Date"/>
          <p:cNvSpPr txBox="1"/>
          <p:nvPr>
            <p:ph type="body" sz="quarter" idx="21" hasCustomPrompt="1"/>
          </p:nvPr>
        </p:nvSpPr>
        <p:spPr>
          <a:xfrm>
            <a:off x="762000" y="8350781"/>
            <a:ext cx="11480800" cy="492253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6349238" y="90677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wo jellyfish touching against a dark blue background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Body Level One…"/>
          <p:cNvSpPr txBox="1"/>
          <p:nvPr>
            <p:ph type="body" sz="quarter" idx="1" hasCustomPrompt="1"/>
          </p:nvPr>
        </p:nvSpPr>
        <p:spPr>
          <a:xfrm>
            <a:off x="762000" y="5245100"/>
            <a:ext cx="11476038" cy="1983317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764381" y="8356600"/>
            <a:ext cx="11476038" cy="49225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2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764381" y="2108200"/>
            <a:ext cx="11476038" cy="3302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pc="-246" sz="82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dy Level One…"/>
          <p:cNvSpPr txBox="1"/>
          <p:nvPr>
            <p:ph type="body" sz="quarter" idx="1" hasCustomPrompt="1"/>
          </p:nvPr>
        </p:nvSpPr>
        <p:spPr>
          <a:xfrm>
            <a:off x="762000" y="5295900"/>
            <a:ext cx="4953000" cy="3530600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3" name="Two jellyfish against a blue background"/>
          <p:cNvSpPr/>
          <p:nvPr>
            <p:ph type="pic" idx="21"/>
          </p:nvPr>
        </p:nvSpPr>
        <p:spPr>
          <a:xfrm>
            <a:off x="21844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Slide Title"/>
          <p:cNvSpPr txBox="1"/>
          <p:nvPr>
            <p:ph type="title" hasCustomPrompt="1"/>
          </p:nvPr>
        </p:nvSpPr>
        <p:spPr>
          <a:xfrm>
            <a:off x="762000" y="3441700"/>
            <a:ext cx="4953000" cy="1964399"/>
          </a:xfrm>
          <a:prstGeom prst="rect">
            <a:avLst/>
          </a:prstGeom>
        </p:spPr>
        <p:txBody>
          <a:bodyPr anchor="b"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762000" y="1422400"/>
            <a:ext cx="11480800" cy="65608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7404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wo jellyfish against a pink background"/>
          <p:cNvSpPr/>
          <p:nvPr>
            <p:ph type="pic" idx="21"/>
          </p:nvPr>
        </p:nvSpPr>
        <p:spPr>
          <a:xfrm>
            <a:off x="4292600" y="0"/>
            <a:ext cx="1291449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Title"/>
          <p:cNvSpPr txBox="1"/>
          <p:nvPr>
            <p:ph type="title" hasCustomPrompt="1"/>
          </p:nvPr>
        </p:nvSpPr>
        <p:spPr>
          <a:xfrm>
            <a:off x="762000" y="495300"/>
            <a:ext cx="4953000" cy="1828800"/>
          </a:xfrm>
          <a:prstGeom prst="rect">
            <a:avLst/>
          </a:prstGeom>
        </p:spPr>
        <p:txBody>
          <a:bodyPr anchor="b"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762000" y="3534833"/>
            <a:ext cx="4953000" cy="5437717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Slide Subtitle"/>
          <p:cNvSpPr txBox="1"/>
          <p:nvPr>
            <p:ph type="body" sz="quarter" idx="22" hasCustomPrompt="1"/>
          </p:nvPr>
        </p:nvSpPr>
        <p:spPr>
          <a:xfrm>
            <a:off x="762000" y="2247900"/>
            <a:ext cx="4953000" cy="65608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6349999" y="90677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762000" y="495300"/>
            <a:ext cx="4953000" cy="1828800"/>
          </a:xfrm>
          <a:prstGeom prst="rect">
            <a:avLst/>
          </a:prstGeom>
        </p:spPr>
        <p:txBody>
          <a:bodyPr anchor="b"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762000" y="3534833"/>
            <a:ext cx="4953000" cy="5437717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Subtitle"/>
          <p:cNvSpPr txBox="1"/>
          <p:nvPr>
            <p:ph type="body" sz="quarter" idx="21" hasCustomPrompt="1"/>
          </p:nvPr>
        </p:nvSpPr>
        <p:spPr>
          <a:xfrm>
            <a:off x="762000" y="2247900"/>
            <a:ext cx="4953000" cy="65608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6349999" y="90677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762000" y="495300"/>
            <a:ext cx="4953000" cy="1828800"/>
          </a:xfrm>
          <a:prstGeom prst="rect">
            <a:avLst/>
          </a:prstGeom>
        </p:spPr>
        <p:txBody>
          <a:bodyPr anchor="b"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Slide 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762000" y="3534833"/>
            <a:ext cx="4953000" cy="5437717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Subtitle"/>
          <p:cNvSpPr txBox="1"/>
          <p:nvPr>
            <p:ph type="body" sz="quarter" idx="21" hasCustomPrompt="1"/>
          </p:nvPr>
        </p:nvSpPr>
        <p:spPr>
          <a:xfrm>
            <a:off x="762000" y="2247900"/>
            <a:ext cx="4953000" cy="65608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6349999" y="90677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762000" y="2108200"/>
            <a:ext cx="11480800" cy="33020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pc="-246" sz="82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762000" y="1422400"/>
            <a:ext cx="11480800" cy="65608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584200">
              <a:lnSpc>
                <a:spcPct val="100000"/>
              </a:lnSpc>
              <a:spcBef>
                <a:spcPts val="900"/>
              </a:spcBef>
              <a:buClrTx/>
              <a:buSzTx/>
              <a:buNone/>
              <a:defRPr spc="-38" sz="3800"/>
            </a:lvl1pPr>
            <a:lvl2pPr marL="0" indent="457200" defTabSz="584200">
              <a:lnSpc>
                <a:spcPct val="100000"/>
              </a:lnSpc>
              <a:spcBef>
                <a:spcPts val="900"/>
              </a:spcBef>
              <a:buClrTx/>
              <a:buSzTx/>
              <a:buNone/>
              <a:defRPr spc="-38" sz="3800"/>
            </a:lvl2pPr>
            <a:lvl3pPr marL="0" indent="914400" defTabSz="584200">
              <a:lnSpc>
                <a:spcPct val="100000"/>
              </a:lnSpc>
              <a:spcBef>
                <a:spcPts val="900"/>
              </a:spcBef>
              <a:buClrTx/>
              <a:buSzTx/>
              <a:buNone/>
              <a:defRPr spc="-38" sz="3800"/>
            </a:lvl3pPr>
            <a:lvl4pPr marL="0" indent="1371600" defTabSz="584200">
              <a:lnSpc>
                <a:spcPct val="100000"/>
              </a:lnSpc>
              <a:spcBef>
                <a:spcPts val="900"/>
              </a:spcBef>
              <a:buClrTx/>
              <a:buSzTx/>
              <a:buNone/>
              <a:defRPr spc="-38" sz="3800"/>
            </a:lvl4pPr>
            <a:lvl5pPr marL="0" indent="1828800" defTabSz="584200">
              <a:lnSpc>
                <a:spcPct val="100000"/>
              </a:lnSpc>
              <a:spcBef>
                <a:spcPts val="900"/>
              </a:spcBef>
              <a:buClrTx/>
              <a:buSzTx/>
              <a:buNone/>
              <a:defRPr spc="-38" sz="38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762000" y="1422400"/>
            <a:ext cx="11480800" cy="656082"/>
          </a:xfrm>
          <a:prstGeom prst="rect">
            <a:avLst/>
          </a:prstGeom>
        </p:spPr>
        <p:txBody>
          <a:bodyPr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762000" y="3341985"/>
            <a:ext cx="11480800" cy="288766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pc="-174" sz="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pc="-174" sz="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pc="-174" sz="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pc="-174" sz="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pc="-174" sz="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sz="half" idx="1" hasCustomPrompt="1"/>
          </p:nvPr>
        </p:nvSpPr>
        <p:spPr>
          <a:xfrm>
            <a:off x="762000" y="2044700"/>
            <a:ext cx="11480800" cy="375776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316" sz="1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316" sz="1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316" sz="1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316" sz="1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316" sz="15800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762000" y="5829300"/>
            <a:ext cx="11480800" cy="613594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half" idx="1" hasCustomPrompt="1"/>
          </p:nvPr>
        </p:nvSpPr>
        <p:spPr>
          <a:xfrm>
            <a:off x="762000" y="3498850"/>
            <a:ext cx="11480800" cy="242138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16" sz="58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16" sz="58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16" sz="58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16" sz="58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pc="-116" sz="5800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762000" y="7100189"/>
            <a:ext cx="11480800" cy="605791"/>
          </a:xfrm>
          <a:prstGeom prst="rect">
            <a:avLst/>
          </a:prstGeom>
        </p:spPr>
        <p:txBody>
          <a:bodyPr anchor="ctr"/>
          <a:lstStyle>
            <a:lvl1pPr marL="0" indent="0" algn="ctr" defTabSz="5842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wo jellyfish against a pink background"/>
          <p:cNvSpPr/>
          <p:nvPr>
            <p:ph type="pic" sz="half" idx="21"/>
          </p:nvPr>
        </p:nvSpPr>
        <p:spPr>
          <a:xfrm>
            <a:off x="6502400" y="4254500"/>
            <a:ext cx="7302500" cy="551517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Two jellyfish touching against a dark blue background"/>
          <p:cNvSpPr/>
          <p:nvPr>
            <p:ph type="pic" sz="half" idx="22"/>
          </p:nvPr>
        </p:nvSpPr>
        <p:spPr>
          <a:xfrm>
            <a:off x="6105525" y="0"/>
            <a:ext cx="7296150" cy="4864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Two jellyfish against a blue background"/>
          <p:cNvSpPr/>
          <p:nvPr>
            <p:ph type="pic" idx="23"/>
          </p:nvPr>
        </p:nvSpPr>
        <p:spPr>
          <a:xfrm>
            <a:off x="-4267200" y="0"/>
            <a:ext cx="14630400" cy="97536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wo jellyfish touching against a dark blue background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6349999" y="9067799"/>
            <a:ext cx="306325" cy="328423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762000" y="2997200"/>
            <a:ext cx="11480800" cy="599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Slide Title"/>
          <p:cNvSpPr txBox="1"/>
          <p:nvPr>
            <p:ph type="title" hasCustomPrompt="1"/>
          </p:nvPr>
        </p:nvSpPr>
        <p:spPr>
          <a:xfrm>
            <a:off x="762000" y="457200"/>
            <a:ext cx="1148080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49999" y="9067799"/>
            <a:ext cx="306325" cy="32842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1pPr>
      <a:lvl2pPr marL="0" marR="0" indent="4572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2pPr>
      <a:lvl3pPr marL="0" marR="0" indent="9144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3pPr>
      <a:lvl4pPr marL="0" marR="0" indent="13716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4pPr>
      <a:lvl5pPr marL="0" marR="0" indent="18288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5pPr>
      <a:lvl6pPr marL="0" marR="0" indent="22860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17399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16" strike="noStrike" sz="5800" u="none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3683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1pPr>
      <a:lvl2pPr marL="7366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2pPr>
      <a:lvl3pPr marL="11049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3pPr>
      <a:lvl4pPr marL="14732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4pPr>
      <a:lvl5pPr marL="18415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5pPr>
      <a:lvl6pPr marL="22098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25781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2946400" marR="0" indent="-368300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3318933" marR="0" indent="-372533" algn="l" defTabSz="1739900" rtl="0" latinLnBrk="0">
        <a:lnSpc>
          <a:spcPct val="90000"/>
        </a:lnSpc>
        <a:spcBef>
          <a:spcPts val="32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ibavljanje obrisanih podataka tehnikom file carving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1426717">
              <a:defRPr spc="-201" sz="6724"/>
            </a:lvl1pPr>
          </a:lstStyle>
          <a:p>
            <a:pPr/>
            <a:r>
              <a:t>Pribavljanje obrisanih podataka tehnikom file carving</a:t>
            </a:r>
          </a:p>
        </p:txBody>
      </p:sp>
      <p:sp>
        <p:nvSpPr>
          <p:cNvPr id="172" name="Seminarski rad, Digitalna forenzika, mentor prof. dr. Bratislav Predić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Seminarski rad, Digitalna forenzika, mentor prof. dr. Bratislav Predić</a:t>
            </a:r>
          </a:p>
        </p:txBody>
      </p:sp>
      <p:sp>
        <p:nvSpPr>
          <p:cNvPr id="173" name="Bogdan Mitrović, 30.09.2026.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Bogdan Mitrović, 30.09.2026.</a:t>
            </a:r>
          </a:p>
        </p:txBody>
      </p:sp>
      <p:pic>
        <p:nvPicPr>
          <p:cNvPr id="17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6551" y="200332"/>
            <a:ext cx="1041401" cy="1041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06941" y="193982"/>
            <a:ext cx="1066801" cy="10541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Brisanje fajla briše samo zapis o njemu, a sadržaj ostaje na disku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Brisanje fajla briše samo zapis o njemu, a sadržaj ostaje na disku</a:t>
            </a:r>
          </a:p>
          <a:p>
            <a:pPr/>
            <a:r>
              <a:t>Kada je zapis uništen, fajl sistem ne pomaže</a:t>
            </a:r>
          </a:p>
        </p:txBody>
      </p:sp>
      <p:sp>
        <p:nvSpPr>
          <p:cNvPr id="178" name="Probl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Problem</a:t>
            </a:r>
          </a:p>
        </p:txBody>
      </p:sp>
      <p:sp>
        <p:nvSpPr>
          <p:cNvPr id="17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Oporavak po sadržaju, bez fajl sistem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Oporavak po sadržaju, bez fajl sistema</a:t>
            </a:r>
          </a:p>
          <a:p>
            <a:pPr/>
            <a:r>
              <a:t>Traži se potpis početka, zatim se određuje kraj fajla</a:t>
            </a:r>
          </a:p>
          <a:p>
            <a:pPr/>
            <a:r>
              <a:t>Vraća sadržaj, ali ne i ime ni vremena</a:t>
            </a:r>
          </a:p>
        </p:txBody>
      </p:sp>
      <p:sp>
        <p:nvSpPr>
          <p:cNvPr id="182" name="Šta je file carv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Šta je file carving</a:t>
            </a:r>
          </a:p>
        </p:txBody>
      </p:sp>
      <p:sp>
        <p:nvSpPr>
          <p:cNvPr id="18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Kratak potpis se javlja i slučajno (FF D8 FF jednom na ~16 MiB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Kratak potpis se javlja i slučajno (FF D8 FF jednom na ~16 MiB)</a:t>
            </a:r>
          </a:p>
          <a:p>
            <a:pPr/>
            <a:r>
              <a:t>Lažna podnožja: 78 pojava FF D9 na ~1,5 MB bez ijednog JPEG-a</a:t>
            </a:r>
          </a:p>
          <a:p>
            <a:pPr/>
            <a:r>
              <a:t>Fragmentacija</a:t>
            </a:r>
          </a:p>
          <a:p>
            <a:pPr/>
            <a:r>
              <a:t>Ugnježdeni objekti (thumbnail-ovi)</a:t>
            </a:r>
          </a:p>
        </p:txBody>
      </p:sp>
      <p:sp>
        <p:nvSpPr>
          <p:cNvPr id="186" name="Zašto je tešk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Zašto je teško</a:t>
            </a:r>
          </a:p>
        </p:txBody>
      </p:sp>
      <p:sp>
        <p:nvSpPr>
          <p:cNvPr id="18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JPEG: segmenti (marker, dužina, sadržaj), kraj je FF D9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JPEG: segmenti (marker, dužina, sadržaj), kraj je FF D9</a:t>
            </a:r>
          </a:p>
          <a:p>
            <a:pPr/>
            <a:r>
              <a:t>PNG: chunk-ovi sa dužinom, kraj je IEND, bez pretrage</a:t>
            </a:r>
          </a:p>
          <a:p>
            <a:pPr/>
            <a:r>
              <a:t>Dva različita načina određivanja kraja</a:t>
            </a:r>
          </a:p>
        </p:txBody>
      </p:sp>
      <p:sp>
        <p:nvSpPr>
          <p:cNvPr id="190" name="Formati: JPEG i P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Formati: JPEG i PNG</a:t>
            </a:r>
          </a:p>
        </p:txBody>
      </p:sp>
      <p:sp>
        <p:nvSpPr>
          <p:cNvPr id="19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Exif i Photoshop segmenti sadrže kompletne JPEG-ov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Exif i Photoshop segmenti sadrže kompletne JPEG-ove</a:t>
            </a:r>
          </a:p>
          <a:p>
            <a:pPr/>
            <a:r>
              <a:t>Naivni alat izdvaja thumbnail od 4102 B umesto fotografije od 444 KB</a:t>
            </a:r>
          </a:p>
          <a:p>
            <a:pPr/>
            <a:r>
              <a:t>Rešenje: preskakanje APPn segmenata po deklarisanoj dužini</a:t>
            </a:r>
          </a:p>
        </p:txBody>
      </p:sp>
      <p:sp>
        <p:nvSpPr>
          <p:cNvPr id="194" name="Ključni nalaz: thumbnail-ov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Ključni nalaz: thumbnail-ovi</a:t>
            </a:r>
          </a:p>
        </p:txBody>
      </p:sp>
      <p:sp>
        <p:nvSpPr>
          <p:cNvPr id="19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read sa 64-bitnim pomerajim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pread sa 64-bitnim pomerajima</a:t>
            </a:r>
          </a:p>
          <a:p>
            <a:pPr/>
            <a:r>
              <a:t>Preklapanje blokova od 7 bajtova</a:t>
            </a:r>
          </a:p>
          <a:p>
            <a:pPr/>
            <a:r>
              <a:t>Provera strukture odbacuje lažna zaglavlja</a:t>
            </a:r>
          </a:p>
          <a:p>
            <a:pPr/>
            <a:r>
              <a:t>Ulaz se otvara samo za čitanje</a:t>
            </a:r>
          </a:p>
        </p:txBody>
      </p:sp>
      <p:sp>
        <p:nvSpPr>
          <p:cNvPr id="198" name="Razvoj alata u C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Razvoj alata u C</a:t>
            </a:r>
          </a:p>
        </p:txBody>
      </p:sp>
      <p:sp>
        <p:nvSpPr>
          <p:cNvPr id="19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[Isti skup fajlova po SHA-256]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[Isti skup fajlova po SHA-256]</a:t>
            </a:r>
          </a:p>
          <a:p>
            <a:pPr/>
            <a:r>
              <a:t>Foremost: više formata i opcija</a:t>
            </a:r>
          </a:p>
          <a:p>
            <a:pPr/>
            <a:r>
              <a:t>Alat iz rada: prikaz rada, manje opcija</a:t>
            </a:r>
          </a:p>
        </p:txBody>
      </p:sp>
      <p:sp>
        <p:nvSpPr>
          <p:cNvPr id="202" name="Poređenje sa Foremost-o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Poređenje sa Foremost-om</a:t>
            </a:r>
          </a:p>
        </p:txBody>
      </p:sp>
      <p:sp>
        <p:nvSpPr>
          <p:cNvPr id="203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agmentisani fajlov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Fragmentisani fajlovi</a:t>
            </a:r>
          </a:p>
          <a:p>
            <a:pPr/>
            <a:r>
              <a:t>PNG CRC se ne proverava</a:t>
            </a:r>
          </a:p>
          <a:p>
            <a:pPr/>
            <a:r>
              <a:t>Podnožje u poslednjih 7 bajtova ulaza</a:t>
            </a:r>
          </a:p>
        </p:txBody>
      </p:sp>
      <p:sp>
        <p:nvSpPr>
          <p:cNvPr id="206" name="Ograničenj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Ograničenja</a:t>
            </a:r>
          </a:p>
        </p:txBody>
      </p:sp>
      <p:sp>
        <p:nvSpPr>
          <p:cNvPr id="20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truktura formata je pouzdaniji kraj fajla od pretrage podnožj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Struktura formata je pouzdaniji kraj fajla od pretrage podnožja</a:t>
            </a:r>
          </a:p>
          <a:p>
            <a:pPr/>
            <a:r>
              <a:t>Budući rad: fragmentisani fajlovi, CRC provera, više formata, paralelizacija</a:t>
            </a:r>
          </a:p>
        </p:txBody>
      </p:sp>
      <p:sp>
        <p:nvSpPr>
          <p:cNvPr id="210" name="Zaključa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Zaključak</a:t>
            </a:r>
          </a:p>
        </p:txBody>
      </p:sp>
      <p:sp>
        <p:nvSpPr>
          <p:cNvPr id="211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990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990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